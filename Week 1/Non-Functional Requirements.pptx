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E6CC3B7-D2D1-4318-A82E-C36B528BAAEC}" type="doc">
      <dgm:prSet loTypeId="urn:microsoft.com/office/officeart/2005/8/layout/pyramid2" loCatId="pyramid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A9C9AE6-2898-465C-B150-488C5E59590D}">
      <dgm:prSet phldrT="[Text]" phldr="0"/>
      <dgm:spPr/>
      <dgm:t>
        <a:bodyPr/>
        <a:lstStyle/>
        <a:p>
          <a:r>
            <a:rPr lang="en-US" dirty="0"/>
            <a:t>90</a:t>
          </a:r>
          <a:r>
            <a:rPr lang="en-US" baseline="30000" dirty="0"/>
            <a:t>th</a:t>
          </a:r>
          <a:r>
            <a:rPr lang="en-US" dirty="0"/>
            <a:t>: 100ms</a:t>
          </a:r>
        </a:p>
      </dgm:t>
    </dgm:pt>
    <dgm:pt modelId="{CB5ED49A-B3A5-42AB-909B-52430F552E52}" type="parTrans" cxnId="{5133B3BA-1F8B-4A54-9475-FA2DA357A6F3}">
      <dgm:prSet/>
      <dgm:spPr/>
      <dgm:t>
        <a:bodyPr/>
        <a:lstStyle/>
        <a:p>
          <a:endParaRPr lang="en-US"/>
        </a:p>
      </dgm:t>
    </dgm:pt>
    <dgm:pt modelId="{D45C1812-6E68-4894-9C96-05EAF2CC4EB8}" type="sibTrans" cxnId="{5133B3BA-1F8B-4A54-9475-FA2DA357A6F3}">
      <dgm:prSet/>
      <dgm:spPr/>
      <dgm:t>
        <a:bodyPr/>
        <a:lstStyle/>
        <a:p>
          <a:endParaRPr lang="en-US"/>
        </a:p>
      </dgm:t>
    </dgm:pt>
    <dgm:pt modelId="{0D1AA1FF-750B-4EE4-8761-9FCE551780EF}">
      <dgm:prSet phldrT="[Text]" phldr="0"/>
      <dgm:spPr/>
      <dgm:t>
        <a:bodyPr/>
        <a:lstStyle/>
        <a:p>
          <a:r>
            <a:rPr lang="en-US" dirty="0"/>
            <a:t>95</a:t>
          </a:r>
          <a:r>
            <a:rPr lang="en-US" baseline="30000" dirty="0"/>
            <a:t>th</a:t>
          </a:r>
          <a:r>
            <a:rPr lang="en-US" dirty="0"/>
            <a:t>: 200ms</a:t>
          </a:r>
        </a:p>
      </dgm:t>
    </dgm:pt>
    <dgm:pt modelId="{359D3769-2D6F-4B80-AA8E-A3AA3CA44072}" type="parTrans" cxnId="{1F4E313F-F3E7-4AD8-ADC4-F5FF1A5D840E}">
      <dgm:prSet/>
      <dgm:spPr/>
      <dgm:t>
        <a:bodyPr/>
        <a:lstStyle/>
        <a:p>
          <a:endParaRPr lang="en-US"/>
        </a:p>
      </dgm:t>
    </dgm:pt>
    <dgm:pt modelId="{EF9961BA-DB81-47AF-BBE7-586ACF1C80B9}" type="sibTrans" cxnId="{1F4E313F-F3E7-4AD8-ADC4-F5FF1A5D840E}">
      <dgm:prSet/>
      <dgm:spPr/>
      <dgm:t>
        <a:bodyPr/>
        <a:lstStyle/>
        <a:p>
          <a:endParaRPr lang="en-US"/>
        </a:p>
      </dgm:t>
    </dgm:pt>
    <dgm:pt modelId="{475164C5-AC40-43F2-B0B3-68EAA3F8B5BD}">
      <dgm:prSet phldrT="[Text]" phldr="0"/>
      <dgm:spPr/>
      <dgm:t>
        <a:bodyPr/>
        <a:lstStyle/>
        <a:p>
          <a:r>
            <a:rPr lang="en-US" dirty="0"/>
            <a:t>99</a:t>
          </a:r>
          <a:r>
            <a:rPr lang="en-US" baseline="30000" dirty="0"/>
            <a:t>th</a:t>
          </a:r>
          <a:r>
            <a:rPr lang="en-US" dirty="0"/>
            <a:t>: 300ms</a:t>
          </a:r>
        </a:p>
      </dgm:t>
    </dgm:pt>
    <dgm:pt modelId="{06764BA2-B3E7-48FE-9FA1-8807A7FA77F4}" type="parTrans" cxnId="{3B63D07A-061F-4A98-83A1-0DF760E4ABDF}">
      <dgm:prSet/>
      <dgm:spPr/>
      <dgm:t>
        <a:bodyPr/>
        <a:lstStyle/>
        <a:p>
          <a:endParaRPr lang="en-US"/>
        </a:p>
      </dgm:t>
    </dgm:pt>
    <dgm:pt modelId="{75EBD6F5-D1CA-4E04-9DC6-06737B066323}" type="sibTrans" cxnId="{3B63D07A-061F-4A98-83A1-0DF760E4ABDF}">
      <dgm:prSet/>
      <dgm:spPr/>
      <dgm:t>
        <a:bodyPr/>
        <a:lstStyle/>
        <a:p>
          <a:endParaRPr lang="en-US"/>
        </a:p>
      </dgm:t>
    </dgm:pt>
    <dgm:pt modelId="{EDE7810B-25EC-464D-9A94-88B98DACE9A9}" type="pres">
      <dgm:prSet presAssocID="{4E6CC3B7-D2D1-4318-A82E-C36B528BAAEC}" presName="compositeShape" presStyleCnt="0">
        <dgm:presLayoutVars>
          <dgm:dir/>
          <dgm:resizeHandles/>
        </dgm:presLayoutVars>
      </dgm:prSet>
      <dgm:spPr/>
    </dgm:pt>
    <dgm:pt modelId="{DE3837D9-0087-4F00-BFCA-FB2E5A7BF17C}" type="pres">
      <dgm:prSet presAssocID="{4E6CC3B7-D2D1-4318-A82E-C36B528BAAEC}" presName="pyramid" presStyleLbl="node1" presStyleIdx="0" presStyleCnt="1"/>
      <dgm:spPr/>
    </dgm:pt>
    <dgm:pt modelId="{DA1A33BD-66AB-49D5-89A5-24527F3462A9}" type="pres">
      <dgm:prSet presAssocID="{4E6CC3B7-D2D1-4318-A82E-C36B528BAAEC}" presName="theList" presStyleCnt="0"/>
      <dgm:spPr/>
    </dgm:pt>
    <dgm:pt modelId="{62C7F271-A6FF-4E2F-87AA-D7ACD6DBAD34}" type="pres">
      <dgm:prSet presAssocID="{5A9C9AE6-2898-465C-B150-488C5E59590D}" presName="aNode" presStyleLbl="fgAcc1" presStyleIdx="0" presStyleCnt="3">
        <dgm:presLayoutVars>
          <dgm:bulletEnabled val="1"/>
        </dgm:presLayoutVars>
      </dgm:prSet>
      <dgm:spPr/>
    </dgm:pt>
    <dgm:pt modelId="{E1A3A1FC-A0DE-4BE1-BB88-A1948A8F6B46}" type="pres">
      <dgm:prSet presAssocID="{5A9C9AE6-2898-465C-B150-488C5E59590D}" presName="aSpace" presStyleCnt="0"/>
      <dgm:spPr/>
    </dgm:pt>
    <dgm:pt modelId="{28A3B53E-F038-413C-B88C-7A51486AD7F0}" type="pres">
      <dgm:prSet presAssocID="{0D1AA1FF-750B-4EE4-8761-9FCE551780EF}" presName="aNode" presStyleLbl="fgAcc1" presStyleIdx="1" presStyleCnt="3">
        <dgm:presLayoutVars>
          <dgm:bulletEnabled val="1"/>
        </dgm:presLayoutVars>
      </dgm:prSet>
      <dgm:spPr/>
    </dgm:pt>
    <dgm:pt modelId="{4B8B8B54-9EF0-4D3A-BDD9-2A22998296AE}" type="pres">
      <dgm:prSet presAssocID="{0D1AA1FF-750B-4EE4-8761-9FCE551780EF}" presName="aSpace" presStyleCnt="0"/>
      <dgm:spPr/>
    </dgm:pt>
    <dgm:pt modelId="{BD61FC42-7B99-4FDC-91CD-16733D613570}" type="pres">
      <dgm:prSet presAssocID="{475164C5-AC40-43F2-B0B3-68EAA3F8B5BD}" presName="aNode" presStyleLbl="fgAcc1" presStyleIdx="2" presStyleCnt="3">
        <dgm:presLayoutVars>
          <dgm:bulletEnabled val="1"/>
        </dgm:presLayoutVars>
      </dgm:prSet>
      <dgm:spPr/>
    </dgm:pt>
    <dgm:pt modelId="{A2E7214F-06B6-4B86-9E11-51C51B1756BD}" type="pres">
      <dgm:prSet presAssocID="{475164C5-AC40-43F2-B0B3-68EAA3F8B5BD}" presName="aSpace" presStyleCnt="0"/>
      <dgm:spPr/>
    </dgm:pt>
  </dgm:ptLst>
  <dgm:cxnLst>
    <dgm:cxn modelId="{E3E3BF13-AA1E-474B-A790-E2C33ADEFD41}" type="presOf" srcId="{0D1AA1FF-750B-4EE4-8761-9FCE551780EF}" destId="{28A3B53E-F038-413C-B88C-7A51486AD7F0}" srcOrd="0" destOrd="0" presId="urn:microsoft.com/office/officeart/2005/8/layout/pyramid2"/>
    <dgm:cxn modelId="{1F4E313F-F3E7-4AD8-ADC4-F5FF1A5D840E}" srcId="{4E6CC3B7-D2D1-4318-A82E-C36B528BAAEC}" destId="{0D1AA1FF-750B-4EE4-8761-9FCE551780EF}" srcOrd="1" destOrd="0" parTransId="{359D3769-2D6F-4B80-AA8E-A3AA3CA44072}" sibTransId="{EF9961BA-DB81-47AF-BBE7-586ACF1C80B9}"/>
    <dgm:cxn modelId="{B49B0540-29B3-4017-A86E-A73D875A9976}" type="presOf" srcId="{475164C5-AC40-43F2-B0B3-68EAA3F8B5BD}" destId="{BD61FC42-7B99-4FDC-91CD-16733D613570}" srcOrd="0" destOrd="0" presId="urn:microsoft.com/office/officeart/2005/8/layout/pyramid2"/>
    <dgm:cxn modelId="{E02C2741-8F2B-410A-8566-53DFA967F61E}" type="presOf" srcId="{5A9C9AE6-2898-465C-B150-488C5E59590D}" destId="{62C7F271-A6FF-4E2F-87AA-D7ACD6DBAD34}" srcOrd="0" destOrd="0" presId="urn:microsoft.com/office/officeart/2005/8/layout/pyramid2"/>
    <dgm:cxn modelId="{3B63D07A-061F-4A98-83A1-0DF760E4ABDF}" srcId="{4E6CC3B7-D2D1-4318-A82E-C36B528BAAEC}" destId="{475164C5-AC40-43F2-B0B3-68EAA3F8B5BD}" srcOrd="2" destOrd="0" parTransId="{06764BA2-B3E7-48FE-9FA1-8807A7FA77F4}" sibTransId="{75EBD6F5-D1CA-4E04-9DC6-06737B066323}"/>
    <dgm:cxn modelId="{96FDD68A-19C7-442C-B9B4-69A74E6C4CE4}" type="presOf" srcId="{4E6CC3B7-D2D1-4318-A82E-C36B528BAAEC}" destId="{EDE7810B-25EC-464D-9A94-88B98DACE9A9}" srcOrd="0" destOrd="0" presId="urn:microsoft.com/office/officeart/2005/8/layout/pyramid2"/>
    <dgm:cxn modelId="{5133B3BA-1F8B-4A54-9475-FA2DA357A6F3}" srcId="{4E6CC3B7-D2D1-4318-A82E-C36B528BAAEC}" destId="{5A9C9AE6-2898-465C-B150-488C5E59590D}" srcOrd="0" destOrd="0" parTransId="{CB5ED49A-B3A5-42AB-909B-52430F552E52}" sibTransId="{D45C1812-6E68-4894-9C96-05EAF2CC4EB8}"/>
    <dgm:cxn modelId="{31DC43A2-E6A6-49A8-A3CD-3A1EFA5DD679}" type="presParOf" srcId="{EDE7810B-25EC-464D-9A94-88B98DACE9A9}" destId="{DE3837D9-0087-4F00-BFCA-FB2E5A7BF17C}" srcOrd="0" destOrd="0" presId="urn:microsoft.com/office/officeart/2005/8/layout/pyramid2"/>
    <dgm:cxn modelId="{30EEA48F-68DC-447E-B6A1-A89D73E4038A}" type="presParOf" srcId="{EDE7810B-25EC-464D-9A94-88B98DACE9A9}" destId="{DA1A33BD-66AB-49D5-89A5-24527F3462A9}" srcOrd="1" destOrd="0" presId="urn:microsoft.com/office/officeart/2005/8/layout/pyramid2"/>
    <dgm:cxn modelId="{61D31288-5CE8-4AF0-8C61-19CBF3321F06}" type="presParOf" srcId="{DA1A33BD-66AB-49D5-89A5-24527F3462A9}" destId="{62C7F271-A6FF-4E2F-87AA-D7ACD6DBAD34}" srcOrd="0" destOrd="0" presId="urn:microsoft.com/office/officeart/2005/8/layout/pyramid2"/>
    <dgm:cxn modelId="{559B7227-B012-4AD0-9BC9-BEA302FBA850}" type="presParOf" srcId="{DA1A33BD-66AB-49D5-89A5-24527F3462A9}" destId="{E1A3A1FC-A0DE-4BE1-BB88-A1948A8F6B46}" srcOrd="1" destOrd="0" presId="urn:microsoft.com/office/officeart/2005/8/layout/pyramid2"/>
    <dgm:cxn modelId="{1121177A-5455-4723-AEC2-5D3A0AED9DF1}" type="presParOf" srcId="{DA1A33BD-66AB-49D5-89A5-24527F3462A9}" destId="{28A3B53E-F038-413C-B88C-7A51486AD7F0}" srcOrd="2" destOrd="0" presId="urn:microsoft.com/office/officeart/2005/8/layout/pyramid2"/>
    <dgm:cxn modelId="{652E3899-025B-4CBB-87C9-0DB82660DA08}" type="presParOf" srcId="{DA1A33BD-66AB-49D5-89A5-24527F3462A9}" destId="{4B8B8B54-9EF0-4D3A-BDD9-2A22998296AE}" srcOrd="3" destOrd="0" presId="urn:microsoft.com/office/officeart/2005/8/layout/pyramid2"/>
    <dgm:cxn modelId="{2AF9BB3C-02A9-48EF-AAE7-05D52A5811D8}" type="presParOf" srcId="{DA1A33BD-66AB-49D5-89A5-24527F3462A9}" destId="{BD61FC42-7B99-4FDC-91CD-16733D613570}" srcOrd="4" destOrd="0" presId="urn:microsoft.com/office/officeart/2005/8/layout/pyramid2"/>
    <dgm:cxn modelId="{2890D904-095B-42A6-A7BA-FC7BB8A3C052}" type="presParOf" srcId="{DA1A33BD-66AB-49D5-89A5-24527F3462A9}" destId="{A2E7214F-06B6-4B86-9E11-51C51B1756BD}" srcOrd="5" destOrd="0" presId="urn:microsoft.com/office/officeart/2005/8/layout/pyramid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E3837D9-0087-4F00-BFCA-FB2E5A7BF17C}">
      <dsp:nvSpPr>
        <dsp:cNvPr id="0" name=""/>
        <dsp:cNvSpPr/>
      </dsp:nvSpPr>
      <dsp:spPr>
        <a:xfrm>
          <a:off x="2686090" y="0"/>
          <a:ext cx="4592637" cy="4592637"/>
        </a:xfrm>
        <a:prstGeom prst="triangl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2C7F271-A6FF-4E2F-87AA-D7ACD6DBAD34}">
      <dsp:nvSpPr>
        <dsp:cNvPr id="0" name=""/>
        <dsp:cNvSpPr/>
      </dsp:nvSpPr>
      <dsp:spPr>
        <a:xfrm>
          <a:off x="4982408" y="461730"/>
          <a:ext cx="2985214" cy="1087163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 dirty="0"/>
            <a:t>90</a:t>
          </a:r>
          <a:r>
            <a:rPr lang="en-US" sz="3600" kern="1200" baseline="30000" dirty="0"/>
            <a:t>th</a:t>
          </a:r>
          <a:r>
            <a:rPr lang="en-US" sz="3600" kern="1200" dirty="0"/>
            <a:t>: 100ms</a:t>
          </a:r>
        </a:p>
      </dsp:txBody>
      <dsp:txXfrm>
        <a:off x="5035479" y="514801"/>
        <a:ext cx="2879072" cy="981021"/>
      </dsp:txXfrm>
    </dsp:sp>
    <dsp:sp modelId="{28A3B53E-F038-413C-B88C-7A51486AD7F0}">
      <dsp:nvSpPr>
        <dsp:cNvPr id="0" name=""/>
        <dsp:cNvSpPr/>
      </dsp:nvSpPr>
      <dsp:spPr>
        <a:xfrm>
          <a:off x="4982408" y="1684789"/>
          <a:ext cx="2985214" cy="1087163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 dirty="0"/>
            <a:t>95</a:t>
          </a:r>
          <a:r>
            <a:rPr lang="en-US" sz="3600" kern="1200" baseline="30000" dirty="0"/>
            <a:t>th</a:t>
          </a:r>
          <a:r>
            <a:rPr lang="en-US" sz="3600" kern="1200" dirty="0"/>
            <a:t>: 200ms</a:t>
          </a:r>
        </a:p>
      </dsp:txBody>
      <dsp:txXfrm>
        <a:off x="5035479" y="1737860"/>
        <a:ext cx="2879072" cy="981021"/>
      </dsp:txXfrm>
    </dsp:sp>
    <dsp:sp modelId="{BD61FC42-7B99-4FDC-91CD-16733D613570}">
      <dsp:nvSpPr>
        <dsp:cNvPr id="0" name=""/>
        <dsp:cNvSpPr/>
      </dsp:nvSpPr>
      <dsp:spPr>
        <a:xfrm>
          <a:off x="4982408" y="2907847"/>
          <a:ext cx="2985214" cy="1087163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 dirty="0"/>
            <a:t>99</a:t>
          </a:r>
          <a:r>
            <a:rPr lang="en-US" sz="3600" kern="1200" baseline="30000" dirty="0"/>
            <a:t>th</a:t>
          </a:r>
          <a:r>
            <a:rPr lang="en-US" sz="3600" kern="1200" dirty="0"/>
            <a:t>: 300ms</a:t>
          </a:r>
        </a:p>
      </dsp:txBody>
      <dsp:txXfrm>
        <a:off x="5035479" y="2960918"/>
        <a:ext cx="2879072" cy="98102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yramid2">
  <dgm:title val=""/>
  <dgm:desc val=""/>
  <dgm:catLst>
    <dgm:cat type="pyramid" pri="3000"/>
    <dgm:cat type="list" pri="21000"/>
    <dgm:cat type="convert" pri="17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compositeShape">
    <dgm:alg type="composite"/>
    <dgm:shape xmlns:r="http://schemas.openxmlformats.org/officeDocument/2006/relationships" r:blip="">
      <dgm:adjLst/>
    </dgm:shape>
    <dgm:presOf/>
    <dgm:varLst>
      <dgm:dir/>
      <dgm:resizeHandles/>
    </dgm:varLst>
    <dgm:choose name="Name0">
      <dgm:if name="Name1" func="var" arg="dir" op="equ" val="norm">
        <dgm:constrLst>
          <dgm:constr type="w" for="ch" forName="pyramid" refType="h"/>
          <dgm:constr type="h" for="ch" forName="pyramid" refType="h"/>
          <dgm:constr type="h" for="ch" forName="theList" refType="h" fact="0.8"/>
          <dgm:constr type="w" for="ch" forName="theList" refType="h" fact="0.65"/>
          <dgm:constr type="ctrY" for="ch" forName="theList" refType="h" refFor="ch" refForName="pyramid" fact="0.5"/>
          <dgm:constr type="l" for="ch" forName="theList" refType="w" refFor="ch" refForName="pyramid" fact="0.5"/>
          <dgm:constr type="h" for="des" forName="aSpace" refType="h" fact="0.1"/>
        </dgm:constrLst>
      </dgm:if>
      <dgm:else name="Name2">
        <dgm:constrLst>
          <dgm:constr type="w" for="ch" forName="pyramid" refType="h"/>
          <dgm:constr type="h" for="ch" forName="pyramid" refType="h"/>
          <dgm:constr type="h" for="ch" forName="theList" refType="h" fact="0.8"/>
          <dgm:constr type="w" for="ch" forName="theList" refType="h" fact="0.65"/>
          <dgm:constr type="ctrY" for="ch" forName="theList" refType="h" refFor="ch" refForName="pyramid" fact="0.5"/>
          <dgm:constr type="r" for="ch" forName="theList" refType="w" refFor="ch" refForName="pyramid" fact="0.5"/>
          <dgm:constr type="h" for="des" forName="aSpace" refType="h" fact="0.1"/>
        </dgm:constrLst>
      </dgm:else>
    </dgm:choose>
    <dgm:ruleLst/>
    <dgm:choose name="Name3">
      <dgm:if name="Name4" axis="ch" ptType="node" func="cnt" op="gte" val="1">
        <dgm:layoutNode name="pyramid" styleLbl="node1">
          <dgm:alg type="sp"/>
          <dgm:shape xmlns:r="http://schemas.openxmlformats.org/officeDocument/2006/relationships" type="triangle" r:blip="">
            <dgm:adjLst/>
          </dgm:shape>
          <dgm:presOf/>
          <dgm:constrLst/>
          <dgm:ruleLst/>
        </dgm:layoutNode>
        <dgm:layoutNode name="theList">
          <dgm:alg type="lin">
            <dgm:param type="linDir" val="fromT"/>
          </dgm:alg>
          <dgm:shape xmlns:r="http://schemas.openxmlformats.org/officeDocument/2006/relationships" r:blip="">
            <dgm:adjLst/>
          </dgm:shape>
          <dgm:presOf/>
          <dgm:constrLst>
            <dgm:constr type="w" for="ch" forName="aNode" refType="w"/>
            <dgm:constr type="h" for="ch" forName="aNode" refType="h"/>
            <dgm:constr type="primFontSz" for="ch" ptType="node" op="equ"/>
          </dgm:constrLst>
          <dgm:ruleLst/>
          <dgm:forEach name="aNodeForEach" axis="ch" ptType="node">
            <dgm:layoutNode name="aNode" styleLbl="fgAcc1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  <dgm:layoutNode name="a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layoutNode>
      </dgm:if>
      <dgm:else name="Name5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1923" y="1122363"/>
            <a:ext cx="7588155" cy="2621154"/>
          </a:xfrm>
        </p:spPr>
        <p:txBody>
          <a:bodyPr anchor="b">
            <a:norm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3843708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8FA71-3A18-48C0-980F-4B68F7F63042}" type="datetime1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17551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1210E-201E-4473-82AC-2466F5386C38}" type="datetime1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10701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06AF-EF87-8489-2C82-DEB90B7E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381" y="553616"/>
            <a:ext cx="8273140" cy="4008859"/>
          </a:xfrm>
        </p:spPr>
        <p:txBody>
          <a:bodyPr anchor="t">
            <a:norm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5678-CA38-1318-9EA2-5E0A4F9A5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3380" y="4589463"/>
            <a:ext cx="8273140" cy="1384617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9186-7E5A-60AF-DE69-5C7DA716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EA198-6CAB-4B8F-B93F-1F9C8C4B6CE7}" type="datetime1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13D1-1FBA-E820-323B-77B41F1A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BE85-85F6-4636-C651-D87CC96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41173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741152" cy="11322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E861E-DFBA-B4AA-9356-CDE3D3F57C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2648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1D7538-EC5A-3EE7-176F-A58920C507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6041F-4525-44D5-AA4F-332294BF1F56}" type="datetime1">
              <a:rPr lang="en-US" smtClean="0"/>
              <a:t>3/20/2026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52994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7396"/>
            <a:ext cx="10745788" cy="11432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DA52B0-7419-A946-4523-6D34BCAD26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2386894"/>
            <a:ext cx="5157787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57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BAE980-E611-98B5-04E9-DE4584B0E3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199" y="2386894"/>
            <a:ext cx="5183189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57091-BBDF-4EB9-BA6B-2BB67AC4FC0F}" type="datetime1">
              <a:rPr lang="en-US" smtClean="0"/>
              <a:t>3/20/2026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88686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B226B-77A6-410C-9796-083F278E0125}" type="datetime1">
              <a:rPr lang="en-US" smtClean="0"/>
              <a:t>3/20/2026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84594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A578B-D289-4C40-8593-3D356C49DA58}" type="datetime1">
              <a:rPr lang="en-US" smtClean="0"/>
              <a:t>3/20/2026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35503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160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6"/>
            <a:ext cx="6279741" cy="54864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7160" y="2311121"/>
            <a:ext cx="3595634" cy="3728895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DFAE3-14DB-48A7-A80F-80DDB072CE3D}" type="datetime1">
              <a:rPr lang="en-US" smtClean="0"/>
              <a:t>3/20/2026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70462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557784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063319" y="657103"/>
            <a:ext cx="6483687" cy="555590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601" y="2826137"/>
            <a:ext cx="3585586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5EAEF-6478-4102-8F5D-A5FE9FC97ACB}" type="datetime1">
              <a:rPr lang="en-US" smtClean="0"/>
              <a:t>3/20/2026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31246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E956D-CB73-C986-F100-46487310D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515600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423E6A-A07C-BF0D-EA30-9A8A854E48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12648" y="1680898"/>
            <a:ext cx="10515600" cy="44960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C9908-8F95-8DFC-72CC-158552B56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4EDB3-C0E8-45F8-9E1D-1B6C8D1880C0}" type="datetime1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26C9BE-9060-50CB-2BB7-07307FF89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4A835B-97D3-BC22-F0B8-4986D4636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97207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5B0252-346C-F6F4-3642-19F571550D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634888" y="578497"/>
            <a:ext cx="2047037" cy="559846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98DA36-7351-9D6A-518B-678AB8A507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578497"/>
            <a:ext cx="8796688" cy="55984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6BDFF-D746-836C-04B8-CA89AD5D1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0EC4B-54ED-4041-B552-9BA760FA3DBA}" type="datetime1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AA929-A9E6-FF9C-0C59-177F892D6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16D893-7E81-90DC-4139-7687B39C3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68861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67F45AC6-C491-4585-A584-9CE2AF7D5500}" type="datetime1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08100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66" r:id="rId6"/>
    <p:sldLayoutId id="2147483662" r:id="rId7"/>
    <p:sldLayoutId id="2147483663" r:id="rId8"/>
    <p:sldLayoutId id="2147483664" r:id="rId9"/>
    <p:sldLayoutId id="2147483665" r:id="rId10"/>
    <p:sldLayoutId id="2147483667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D587E41-605C-A8E4-8BA5-0E0B3797C9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487829D-7943-1724-5758-4DC01D98F27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7866" b="3463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EBD48A03-0DF9-3063-CB15-1BC2AEC79F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611906"/>
            <a:ext cx="12191999" cy="1246094"/>
          </a:xfrm>
          <a:prstGeom prst="rect">
            <a:avLst/>
          </a:prstGeom>
          <a:solidFill>
            <a:schemeClr val="bg1">
              <a:alpha val="8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F4A28E-72D2-8325-3991-02C70295A7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040" y="5795685"/>
            <a:ext cx="8183880" cy="960120"/>
          </a:xfrm>
        </p:spPr>
        <p:txBody>
          <a:bodyPr anchor="ctr">
            <a:normAutofit/>
          </a:bodyPr>
          <a:lstStyle/>
          <a:p>
            <a:pPr algn="l"/>
            <a:r>
              <a:rPr lang="en-US" dirty="0"/>
              <a:t>Non-Functional Requirements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14111D-E9AC-96F6-75AF-705BCE69F7E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87818" y="5795685"/>
            <a:ext cx="3409109" cy="960120"/>
          </a:xfrm>
        </p:spPr>
        <p:txBody>
          <a:bodyPr anchor="ctr">
            <a:normAutofit/>
          </a:bodyPr>
          <a:lstStyle/>
          <a:p>
            <a:pPr algn="r"/>
            <a:r>
              <a:rPr lang="en-US" sz="1900" dirty="0"/>
              <a:t>And Metrics</a:t>
            </a:r>
          </a:p>
        </p:txBody>
      </p:sp>
    </p:spTree>
    <p:extLst>
      <p:ext uri="{BB962C8B-B14F-4D97-AF65-F5344CB8AC3E}">
        <p14:creationId xmlns:p14="http://schemas.microsoft.com/office/powerpoint/2010/main" val="40553465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620205-56CF-A6EE-D6A4-2883579B3C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lang="en-US" dirty="0"/>
              <a:t>Service Level Topics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9F4C8E-CFBE-094F-2082-5D0319C0FB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24936" y="1879632"/>
            <a:ext cx="3429001" cy="4593828"/>
          </a:xfrm>
        </p:spPr>
        <p:txBody>
          <a:bodyPr/>
          <a:lstStyle/>
          <a:p>
            <a:pPr marL="0" indent="0" algn="ctr">
              <a:buNone/>
            </a:pPr>
            <a:r>
              <a:rPr lang="en-US" b="1" dirty="0"/>
              <a:t>Service Level Objective</a:t>
            </a:r>
          </a:p>
          <a:p>
            <a:r>
              <a:rPr lang="en-US" dirty="0"/>
              <a:t>Internal target for service performance</a:t>
            </a:r>
          </a:p>
          <a:p>
            <a:r>
              <a:rPr lang="en-US" dirty="0"/>
              <a:t>Typically more stringent than SLA targets</a:t>
            </a:r>
          </a:p>
          <a:p>
            <a:r>
              <a:rPr lang="en-US" dirty="0"/>
              <a:t>Difference between SLA and SLO is your error budget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F60A549-F522-7D1B-8A23-CEF800FFA722}"/>
              </a:ext>
            </a:extLst>
          </p:cNvPr>
          <p:cNvSpPr txBox="1">
            <a:spLocks/>
          </p:cNvSpPr>
          <p:nvPr/>
        </p:nvSpPr>
        <p:spPr>
          <a:xfrm>
            <a:off x="612648" y="1879632"/>
            <a:ext cx="3429001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b="1" dirty="0"/>
              <a:t>Service Level Agreement</a:t>
            </a:r>
          </a:p>
          <a:p>
            <a:r>
              <a:rPr lang="en-US" dirty="0"/>
              <a:t>Legal agreement between service provider and customer</a:t>
            </a:r>
          </a:p>
          <a:p>
            <a:r>
              <a:rPr lang="en-US" dirty="0"/>
              <a:t>Missing the goals outlined in the SLA will typically have some form of penalty</a:t>
            </a:r>
          </a:p>
          <a:p>
            <a:r>
              <a:rPr lang="en-US" dirty="0"/>
              <a:t>Ideally crafted with conservative metrics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62206594-78E4-9304-8375-A07775A0C867}"/>
              </a:ext>
            </a:extLst>
          </p:cNvPr>
          <p:cNvSpPr txBox="1">
            <a:spLocks/>
          </p:cNvSpPr>
          <p:nvPr/>
        </p:nvSpPr>
        <p:spPr>
          <a:xfrm>
            <a:off x="7837225" y="1879632"/>
            <a:ext cx="3429001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b="1" dirty="0"/>
              <a:t>Service Level Indicator</a:t>
            </a:r>
          </a:p>
          <a:p>
            <a:r>
              <a:rPr lang="en-US" dirty="0"/>
              <a:t>Actual metric used to track service performance</a:t>
            </a:r>
          </a:p>
          <a:p>
            <a:r>
              <a:rPr lang="en-US" dirty="0"/>
              <a:t>Should be quantifiable</a:t>
            </a:r>
          </a:p>
        </p:txBody>
      </p:sp>
    </p:spTree>
    <p:extLst>
      <p:ext uri="{BB962C8B-B14F-4D97-AF65-F5344CB8AC3E}">
        <p14:creationId xmlns:p14="http://schemas.microsoft.com/office/powerpoint/2010/main" val="37024237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539ED8-6199-99B2-8A48-8B882FB58D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91E3B7-9A9C-2212-3621-636290494A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lang="en-US" dirty="0"/>
              <a:t>Common Performance Metrics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82E105-D6D9-A049-A2CC-347BEEF7F6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24936" y="1879632"/>
            <a:ext cx="3429001" cy="4593828"/>
          </a:xfrm>
        </p:spPr>
        <p:txBody>
          <a:bodyPr anchor="ctr"/>
          <a:lstStyle/>
          <a:p>
            <a:pPr marL="0" indent="0" algn="ctr">
              <a:buNone/>
            </a:pPr>
            <a:r>
              <a:rPr lang="en-US" b="1" dirty="0"/>
              <a:t>Response Time</a:t>
            </a:r>
            <a:r>
              <a:rPr lang="en-US" dirty="0"/>
              <a:t>: How long it takes for the service to process a request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1D86A97-D8D1-F535-6499-2536A11F841F}"/>
              </a:ext>
            </a:extLst>
          </p:cNvPr>
          <p:cNvSpPr txBox="1">
            <a:spLocks/>
          </p:cNvSpPr>
          <p:nvPr/>
        </p:nvSpPr>
        <p:spPr>
          <a:xfrm>
            <a:off x="612648" y="1879632"/>
            <a:ext cx="3429001" cy="45938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b="1" dirty="0"/>
              <a:t>Throughput</a:t>
            </a:r>
            <a:r>
              <a:rPr lang="en-US" dirty="0"/>
              <a:t>: How much work a system can handle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5B546AF6-3B19-FDEB-59C0-64191AA08B1D}"/>
              </a:ext>
            </a:extLst>
          </p:cNvPr>
          <p:cNvSpPr txBox="1">
            <a:spLocks/>
          </p:cNvSpPr>
          <p:nvPr/>
        </p:nvSpPr>
        <p:spPr>
          <a:xfrm>
            <a:off x="7837225" y="1879632"/>
            <a:ext cx="3429001" cy="45938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b="1" dirty="0"/>
              <a:t>Availability</a:t>
            </a:r>
            <a:r>
              <a:rPr lang="en-US" dirty="0"/>
              <a:t>: How accessible the service is</a:t>
            </a:r>
          </a:p>
        </p:txBody>
      </p:sp>
    </p:spTree>
    <p:extLst>
      <p:ext uri="{BB962C8B-B14F-4D97-AF65-F5344CB8AC3E}">
        <p14:creationId xmlns:p14="http://schemas.microsoft.com/office/powerpoint/2010/main" val="11113836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62943C-3E45-96F1-CA5E-C992FC5F8B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Percentiles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2D228733-E1A0-107D-536A-8EDEE5D3079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24416605"/>
              </p:ext>
            </p:extLst>
          </p:nvPr>
        </p:nvGraphicFramePr>
        <p:xfrm>
          <a:off x="612775" y="1716088"/>
          <a:ext cx="10653713" cy="45926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187372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D0EC83-5938-37A5-F19B-0BCBD08CD9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US" dirty="0" err="1"/>
              <a:t>Apdex</a:t>
            </a:r>
            <a:r>
              <a:rPr lang="en-US" dirty="0"/>
              <a:t> Score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CF51D5D-E22C-184F-7917-D93DEB9D523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4533" y="5001768"/>
            <a:ext cx="10902933" cy="121896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5AD76E8-6E2E-70BE-1667-230251D8202D}"/>
              </a:ext>
            </a:extLst>
          </p:cNvPr>
          <p:cNvSpPr txBox="1"/>
          <p:nvPr/>
        </p:nvSpPr>
        <p:spPr>
          <a:xfrm>
            <a:off x="1344168" y="2093976"/>
            <a:ext cx="937260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Satisfied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Response was at or faster than the target time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i="1" dirty="0"/>
              <a:t>Response-Time &lt;= Target-Time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Tolerating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Response was between the target time and 4X target time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i="1" dirty="0"/>
              <a:t>Target-Time &lt; Response-Time &lt;= Target-Time X 4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Frustrated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Response was longer than 4X the target time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i="1" dirty="0"/>
              <a:t>Target-Time X 4 &lt; Response Time</a:t>
            </a:r>
          </a:p>
        </p:txBody>
      </p:sp>
    </p:spTree>
    <p:extLst>
      <p:ext uri="{BB962C8B-B14F-4D97-AF65-F5344CB8AC3E}">
        <p14:creationId xmlns:p14="http://schemas.microsoft.com/office/powerpoint/2010/main" val="377849983"/>
      </p:ext>
    </p:extLst>
  </p:cSld>
  <p:clrMapOvr>
    <a:masterClrMapping/>
  </p:clrMapOvr>
</p:sld>
</file>

<file path=ppt/theme/theme1.xml><?xml version="1.0" encoding="utf-8"?>
<a:theme xmlns:a="http://schemas.openxmlformats.org/drawingml/2006/main" name="VanillaVTI">
  <a:themeElements>
    <a:clrScheme name="Vanilla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nillaVTI" id="{54D376C6-1C9B-4C6B-8F3C-483BB307BB05}" vid="{7690D8A9-C071-45EF-BA7A-F7FA9779B11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</TotalTime>
  <Words>163</Words>
  <Application>Microsoft Office PowerPoint</Application>
  <PresentationFormat>Widescreen</PresentationFormat>
  <Paragraphs>32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Neue Haas Grotesk Text Pro</vt:lpstr>
      <vt:lpstr>VanillaVTI</vt:lpstr>
      <vt:lpstr>Non-Functional Requirements</vt:lpstr>
      <vt:lpstr>Service Level Topics</vt:lpstr>
      <vt:lpstr>Common Performance Metrics</vt:lpstr>
      <vt:lpstr>Percentiles</vt:lpstr>
      <vt:lpstr>Apdex Score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Eric Suminski</dc:creator>
  <cp:lastModifiedBy>Eric Suminski</cp:lastModifiedBy>
  <cp:revision>2</cp:revision>
  <dcterms:created xsi:type="dcterms:W3CDTF">2026-03-16T18:08:37Z</dcterms:created>
  <dcterms:modified xsi:type="dcterms:W3CDTF">2026-03-20T14:29:08Z</dcterms:modified>
</cp:coreProperties>
</file>